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t>图4  SCOPE七条AI业务进化路线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46E7A"/>
                </a:solidFill>
                <a:latin typeface="Microsoft YaHei"/>
              </a:defRPr>
            </a:pPr>
            <a:r>
              <a:t>Figure 4  Seven AI Business Evolution Trajectories of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65C0"/>
                </a:solidFill>
                <a:latin typeface="Microsoft YaHei"/>
              </a:defRPr>
            </a:pPr>
            <a:r>
              <a:t>路线1: 洞察深度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987552"/>
            <a:ext cx="11989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报表</a:t>
            </a:r>
            <a:br/>
            <a:r>
              <a:t>(发生了什么)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94689.2800000003" y="1303020"/>
            <a:ext cx="465246.71999999974" cy="0"/>
          </a:xfrm>
          <a:prstGeom prst="line">
            <a:avLst/>
          </a:prstGeom>
          <a:ln w="2286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78224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78224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D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987552"/>
            <a:ext cx="11989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仪表盘</a:t>
            </a:r>
            <a:br/>
            <a:r>
              <a:t>(正在发生什么)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86913.28" y="1303020"/>
            <a:ext cx="465246.71999999974" cy="0"/>
          </a:xfrm>
          <a:prstGeom prst="line">
            <a:avLst/>
          </a:prstGeom>
          <a:ln w="2286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70448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70448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987552"/>
            <a:ext cx="11989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预测性警报</a:t>
            </a:r>
            <a:br/>
            <a:r>
              <a:t>(将要发生什么)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9137.28" y="1303020"/>
            <a:ext cx="465246.71999999974" cy="0"/>
          </a:xfrm>
          <a:prstGeom prst="line">
            <a:avLst/>
          </a:prstGeom>
          <a:ln w="2286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62672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62672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95B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987552"/>
            <a:ext cx="11989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规范建议</a:t>
            </a:r>
            <a:br/>
            <a:r>
              <a:t>(该怎么办)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71361.28" y="1303020"/>
            <a:ext cx="465246.72000000067" cy="0"/>
          </a:xfrm>
          <a:prstGeom prst="line">
            <a:avLst/>
          </a:prstGeom>
          <a:ln w="2286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54896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54896" y="914400"/>
            <a:ext cx="1290401" cy="777240"/>
          </a:xfrm>
          <a:prstGeom prst="roundRect">
            <a:avLst>
              <a:gd name="adj" fmla="val 8000"/>
            </a:avLst>
          </a:prstGeom>
          <a:solidFill>
            <a:srgbClr val="72A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987552"/>
            <a:ext cx="11989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自主行动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1709928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南方电网"大瓦特·天象": 从负荷报表到AI自主调度的全阶段贯通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1929384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E7D32"/>
                </a:solidFill>
                <a:latin typeface="Microsoft YaHei"/>
              </a:defRPr>
            </a:pPr>
            <a:r>
              <a:t>路线2: 决策自主度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8600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AI给出</a:t>
            </a:r>
            <a:br/>
            <a:r>
              <a:t>建议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79622.4" y="2135124"/>
            <a:ext cx="381609.6000000001" cy="0"/>
          </a:xfrm>
          <a:prstGeom prst="line">
            <a:avLst/>
          </a:prstGeom>
          <a:ln w="2286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7952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7952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E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524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AI+人</a:t>
            </a:r>
            <a:br/>
            <a:r>
              <a:t>协同决策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73142.4" y="2135124"/>
            <a:ext cx="381609.5999999996" cy="0"/>
          </a:xfrm>
          <a:prstGeom prst="line">
            <a:avLst/>
          </a:prstGeom>
          <a:ln w="2286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7304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7304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CC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1876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AI增强人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6662.4" y="2135124"/>
            <a:ext cx="381609.5999999996" cy="0"/>
          </a:xfrm>
          <a:prstGeom prst="line">
            <a:avLst/>
          </a:prstGeom>
          <a:ln w="2286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76656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6656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B3D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AI替代人</a:t>
            </a:r>
            <a:br/>
            <a:r>
              <a:t>(特定任务)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0182.4" y="2135124"/>
            <a:ext cx="381609.5999999996" cy="0"/>
          </a:xfrm>
          <a:prstGeom prst="line">
            <a:avLst/>
          </a:prstGeom>
          <a:ln w="2286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6008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6008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9AC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580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AI自主执行</a:t>
            </a:r>
            <a:br/>
            <a:r>
              <a:t>人监督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53702.4" y="2135124"/>
            <a:ext cx="381609.5999999996" cy="0"/>
          </a:xfrm>
          <a:prstGeom prst="line">
            <a:avLst/>
          </a:prstGeom>
          <a:ln w="2286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75360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53600" y="1746504"/>
            <a:ext cx="1075334" cy="777240"/>
          </a:xfrm>
          <a:prstGeom prst="roundRect">
            <a:avLst>
              <a:gd name="adj" fmla="val 8000"/>
            </a:avLst>
          </a:prstGeom>
          <a:solidFill>
            <a:srgbClr val="81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99320" y="1819656"/>
            <a:ext cx="983894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AI完全</a:t>
            </a:r>
            <a:br/>
            <a:r>
              <a:t>自主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2542032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多数处于"AI增强人"阶段 | 医疗最保守 | 电网/制造最激进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276148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65100"/>
                </a:solidFill>
                <a:latin typeface="Microsoft YaHei"/>
              </a:defRPr>
            </a:pPr>
            <a:r>
              <a:t>路线3: 产品形态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8600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28600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31720" y="2651760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流程</a:t>
            </a:r>
            <a:br/>
            <a:r>
              <a:t>自动化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54956.8" y="2967228"/>
            <a:ext cx="799795.2000000002" cy="0"/>
          </a:xfrm>
          <a:prstGeom prst="line">
            <a:avLst/>
          </a:prstGeom>
          <a:ln w="2286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27304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7304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7C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18760" y="2651760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智能</a:t>
            </a:r>
            <a:br/>
            <a:r>
              <a:t>产品化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441996.8" y="2967228"/>
            <a:ext cx="799795.2000000002" cy="0"/>
          </a:xfrm>
          <a:prstGeom prst="line">
            <a:avLst/>
          </a:prstGeom>
          <a:ln w="2286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826008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60080" y="2578608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0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05800" y="2651760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生态</a:t>
            </a:r>
            <a:br/>
            <a:r>
              <a:t>平台化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3374136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杭州城市大脑: 1.0交通治堵 → 3.0"模型+智能体"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3593592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A1B9A"/>
                </a:solidFill>
                <a:latin typeface="Microsoft YaHei"/>
              </a:defRPr>
            </a:pPr>
            <a:r>
              <a:t>路线4: 技术范式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8600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28600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3483864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基于规则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917289.5999999996" y="3799332"/>
            <a:ext cx="590702.4000000004" cy="0"/>
          </a:xfrm>
          <a:prstGeom prst="line">
            <a:avLst/>
          </a:prstGeom>
          <a:ln w="2286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52628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2628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E1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0" y="3483864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基于模型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57569.6" y="3799332"/>
            <a:ext cx="590702.4000000004" cy="0"/>
          </a:xfrm>
          <a:prstGeom prst="line">
            <a:avLst/>
          </a:prstGeom>
          <a:ln w="2286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76656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76656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C3A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12280" y="3483864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基于生成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397849.6" y="3799332"/>
            <a:ext cx="590702.4000000004" cy="0"/>
          </a:xfrm>
          <a:prstGeom prst="line">
            <a:avLst/>
          </a:prstGeom>
          <a:ln w="2286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00684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06840" y="3410712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A57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2560" y="3483864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基于</a:t>
            </a:r>
            <a:br/>
            <a:r>
              <a:t>自进化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0" y="4206240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主流: 模型→生成过渡期 | Darktrace/西门子: 自进化前沿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4425696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838F"/>
                </a:solidFill>
                <a:latin typeface="Microsoft YaHei"/>
              </a:defRPr>
            </a:pPr>
            <a:r>
              <a:t>路线5: 交互方式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28600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28600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31720" y="4315968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菜单/</a:t>
            </a:r>
            <a:br/>
            <a:r>
              <a:t>表单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917289.5999999996" y="4631436"/>
            <a:ext cx="590702.4000000004" cy="0"/>
          </a:xfrm>
          <a:prstGeom prst="line">
            <a:avLst/>
          </a:prstGeom>
          <a:ln w="2286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452628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52628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CC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0" y="4315968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自然</a:t>
            </a:r>
            <a:br/>
            <a:r>
              <a:t>语言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157569.6" y="4631436"/>
            <a:ext cx="590702.4000000004" cy="0"/>
          </a:xfrm>
          <a:prstGeom prst="line">
            <a:avLst/>
          </a:prstGeom>
          <a:ln w="2286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76656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76656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9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12280" y="4315968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多模态</a:t>
            </a:r>
            <a:br/>
            <a:r>
              <a:t>融合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397849.6" y="4631436"/>
            <a:ext cx="590702.4000000004" cy="0"/>
          </a:xfrm>
          <a:prstGeom prst="line">
            <a:avLst/>
          </a:prstGeom>
          <a:ln w="2286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00684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006840" y="4242816"/>
            <a:ext cx="1613001" cy="777240"/>
          </a:xfrm>
          <a:prstGeom prst="roundRect">
            <a:avLst>
              <a:gd name="adj" fmla="val 8000"/>
            </a:avLst>
          </a:prstGeom>
          <a:solidFill>
            <a:srgbClr val="66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52560" y="4315968"/>
            <a:ext cx="1521561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无感交互</a:t>
            </a:r>
            <a:br/>
            <a:r>
              <a:t>(环境感知)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6000" y="5038344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滴滴: 菜单→NL | 美团无人车: 多模态 | Vantiq: 无感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" y="5257800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62828"/>
                </a:solidFill>
                <a:latin typeface="Microsoft YaHei"/>
              </a:defRPr>
            </a:pPr>
            <a:r>
              <a:t>路线6: Agent架构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28600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28600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331720" y="5148072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单Agent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454956.8" y="5463540"/>
            <a:ext cx="799795.2000000002" cy="0"/>
          </a:xfrm>
          <a:prstGeom prst="line">
            <a:avLst/>
          </a:prstGeom>
          <a:ln w="2286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527304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27304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ED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18760" y="5148072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多Agent</a:t>
            </a:r>
            <a:br/>
            <a:r>
              <a:t>协同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441996.8" y="5463540"/>
            <a:ext cx="799795.2000000002" cy="0"/>
          </a:xfrm>
          <a:prstGeom prst="line">
            <a:avLst/>
          </a:prstGeom>
          <a:ln w="2286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826008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260080" y="5074920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DC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05800" y="5148072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Agent生态</a:t>
            </a:r>
            <a:br/>
            <a:r>
              <a:t>(自主协作)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86000" y="5870448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Figma/智联/绝味: 多Agent协同 | 2025-2026爆发趋势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6089904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7474F"/>
                </a:solidFill>
                <a:latin typeface="Microsoft YaHei"/>
              </a:defRPr>
            </a:pPr>
            <a:r>
              <a:t>路线7: 价值分配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28600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8600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31720" y="5980176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层级中介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454956.8" y="6295644"/>
            <a:ext cx="799795.2000000002" cy="0"/>
          </a:xfrm>
          <a:prstGeom prst="line">
            <a:avLst/>
          </a:prstGeom>
          <a:ln w="2286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527304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527304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C3C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18760" y="5980176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263238"/>
                </a:solidFill>
                <a:latin typeface="Microsoft YaHei"/>
              </a:defRPr>
            </a:pPr>
            <a:r>
              <a:t>平台中介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441996.8" y="6295644"/>
            <a:ext cx="799795.2000000002" cy="0"/>
          </a:xfrm>
          <a:prstGeom prst="line">
            <a:avLst/>
          </a:prstGeom>
          <a:ln w="2286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826008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8260080" y="5907024"/>
            <a:ext cx="2150668" cy="777240"/>
          </a:xfrm>
          <a:prstGeom prst="roundRect">
            <a:avLst>
              <a:gd name="adj" fmla="val 8000"/>
            </a:avLst>
          </a:prstGeom>
          <a:solidFill>
            <a:srgbClr val="879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05800" y="5980176"/>
            <a:ext cx="2059228" cy="6309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63238"/>
                </a:solidFill>
                <a:latin typeface="Microsoft YaHei"/>
              </a:defRPr>
            </a:pPr>
            <a:r>
              <a:t>AI使能的</a:t>
            </a:r>
            <a:br/>
            <a:r>
              <a:t>去中介化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86000" y="6702552"/>
            <a:ext cx="8961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8909C"/>
                </a:solidFill>
                <a:latin typeface="Microsoft YaHei"/>
              </a:defRPr>
            </a:pPr>
            <a:r>
              <a:t>代表案例: 遂溪仙品荔: 果农+AI→消费者 | 阿桂: 农户+AI→直销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