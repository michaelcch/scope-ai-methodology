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28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1A237E"/>
                </a:solidFill>
                <a:latin typeface="Microsoft YaHei"/>
              </a:defRPr>
            </a:pPr>
            <a:r>
              <a:t>图1  SCOPE方法论五层架构与五步法流程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546E7A"/>
                </a:solidFill>
                <a:latin typeface="Microsoft YaHei"/>
              </a:defRPr>
            </a:pPr>
            <a:r>
              <a:t>Figure 1  Five-Layer Architecture and Five-Step Workflow of the SCOPE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102412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61872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63238"/>
                </a:solidFill>
                <a:latin typeface="Microsoft YaHei"/>
              </a:defRPr>
            </a:pPr>
            <a:r>
              <a:t>第一层: 业务场景参数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36192"/>
            <a:ext cx="448056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7474F"/>
                </a:solidFill>
                <a:latin typeface="Microsoft YaHei"/>
              </a:defRPr>
            </a:pPr>
            <a:r>
              <a:t>6个改善参数 + 6个恶化参数</a:t>
            </a:r>
            <a:br/>
            <a:r>
              <a:t>物理矛盾建模</a:t>
            </a:r>
            <a:br/>
            <a:r>
              <a:t>"想提升什么 vs 担心什么恶化"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04288"/>
            <a:ext cx="5303520" cy="1024128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4360" y="2624328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77440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63238"/>
                </a:solidFill>
                <a:latin typeface="Microsoft YaHei"/>
              </a:defRPr>
            </a:pPr>
            <a:r>
              <a:t>第二层: AI业务发明原理库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51760"/>
            <a:ext cx="448056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7474F"/>
                </a:solidFill>
                <a:latin typeface="Microsoft YaHei"/>
              </a:defRPr>
            </a:pPr>
            <a:r>
              <a:t>36个原理, 五大类</a:t>
            </a:r>
            <a:br/>
            <a:r>
              <a:t>标准化五段模板</a:t>
            </a:r>
            <a:br/>
            <a:r>
              <a:t>基础原理 / 禁忌 / 信度标记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19856"/>
            <a:ext cx="5303520" cy="10241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4360" y="3739896"/>
            <a:ext cx="384048" cy="384048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93008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63238"/>
                </a:solidFill>
                <a:latin typeface="Microsoft YaHei"/>
              </a:defRPr>
            </a:pPr>
            <a:r>
              <a:t>第三层: 矛盾矩阵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67328"/>
            <a:ext cx="448056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7474F"/>
                </a:solidFill>
                <a:latin typeface="Microsoft YaHei"/>
              </a:defRPr>
            </a:pPr>
            <a:r>
              <a:t>6×6 = 36格, 100%填满率</a:t>
            </a:r>
            <a:br/>
            <a:r>
              <a:t>210案例交叉统计</a:t>
            </a:r>
            <a:br/>
            <a:r>
              <a:t>信度等级 + 禁忌组合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35424"/>
            <a:ext cx="5303520" cy="102412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4360" y="4855464"/>
            <a:ext cx="384048" cy="384048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608576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63238"/>
                </a:solidFill>
                <a:latin typeface="Microsoft YaHei"/>
              </a:defRPr>
            </a:pPr>
            <a:r>
              <a:t>第四层: AI业务进化路线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882896"/>
            <a:ext cx="448056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7474F"/>
                </a:solidFill>
                <a:latin typeface="Microsoft YaHei"/>
              </a:defRPr>
            </a:pPr>
            <a:r>
              <a:t>7条进化路线 + 回滚分支</a:t>
            </a:r>
            <a:br/>
            <a:r>
              <a:t>三级跳: 近期 → 中期 → 远期</a:t>
            </a:r>
            <a:br/>
            <a:r>
              <a:t>时间维度的推进策略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50992"/>
            <a:ext cx="5303520" cy="1024128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4360" y="5971032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724144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63238"/>
                </a:solidFill>
                <a:latin typeface="Microsoft YaHei"/>
              </a:defRPr>
            </a:pPr>
            <a:r>
              <a:t>第五层: AI能力效应库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998464"/>
            <a:ext cx="4480560" cy="6217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7474F"/>
                </a:solidFill>
                <a:latin typeface="Microsoft YaHei"/>
              </a:defRPr>
            </a:pPr>
            <a:r>
              <a:t>14项 AI技术映射</a:t>
            </a:r>
            <a:br/>
            <a:r>
              <a:t>"发明原理 → 具体AI技术"</a:t>
            </a:r>
            <a:br/>
            <a:r>
              <a:t>LLM / CV / RL / 时序预测 ...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08960" y="2212848"/>
            <a:ext cx="0" cy="91440"/>
          </a:xfrm>
          <a:prstGeom prst="line">
            <a:avLst/>
          </a:prstGeom>
          <a:ln w="25400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108960" y="3328416"/>
            <a:ext cx="0" cy="91440"/>
          </a:xfrm>
          <a:prstGeom prst="line">
            <a:avLst/>
          </a:prstGeom>
          <a:ln w="25400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08960" y="4443984"/>
            <a:ext cx="0" cy="91440"/>
          </a:xfrm>
          <a:prstGeom prst="line">
            <a:avLst/>
          </a:prstGeom>
          <a:ln w="25400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108960" y="5559552"/>
            <a:ext cx="0" cy="91440"/>
          </a:xfrm>
          <a:prstGeom prst="line">
            <a:avLst/>
          </a:prstGeom>
          <a:ln w="25400">
            <a:solidFill>
              <a:srgbClr val="546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583680" y="1188720"/>
            <a:ext cx="51206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0" y="1188720"/>
            <a:ext cx="5120640" cy="3200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1207008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  Strengthen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572768"/>
            <a:ext cx="4572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7474F"/>
                </a:solidFill>
                <a:latin typeface="Microsoft YaHei"/>
              </a:defRPr>
            </a:pPr>
            <a:r>
              <a:t>明确要提升的核心业务目标</a:t>
            </a:r>
            <a:br/>
            <a:r>
              <a:t>"我最想提升的是什么？"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304288"/>
            <a:ext cx="51206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0" y="2304288"/>
            <a:ext cx="5120640" cy="320040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0" y="2322576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  Constrain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688336"/>
            <a:ext cx="4572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7474F"/>
                </a:solidFill>
                <a:latin typeface="Microsoft YaHei"/>
              </a:defRPr>
            </a:pPr>
            <a:r>
              <a:t>识别AI引入后的恶化风险</a:t>
            </a:r>
            <a:br/>
            <a:r>
              <a:t>"引入AI后，我最怕什么出问题？"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3419856"/>
            <a:ext cx="51206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83680" y="3419856"/>
            <a:ext cx="5120640" cy="32004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66560" y="3438144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O  Originate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803904"/>
            <a:ext cx="4572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7474F"/>
                </a:solidFill>
                <a:latin typeface="Microsoft YaHei"/>
              </a:defRPr>
            </a:pPr>
            <a:r>
              <a:t>查矛盾矩阵</a:t>
            </a:r>
            <a:br/>
            <a:r>
              <a:t>获得AI业务发明原理推荐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4535424"/>
            <a:ext cx="51206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0" y="4535424"/>
            <a:ext cx="5120640" cy="32004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66560" y="4553712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 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919472"/>
            <a:ext cx="4572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7474F"/>
                </a:solidFill>
                <a:latin typeface="Microsoft YaHei"/>
              </a:defRPr>
            </a:pPr>
            <a:r>
              <a:t>评估当前进化位置</a:t>
            </a:r>
            <a:br/>
            <a:r>
              <a:t>规划近期→中期→远期三级跳路径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5650992"/>
            <a:ext cx="51206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0" y="5650992"/>
            <a:ext cx="512064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66560" y="5669280"/>
            <a:ext cx="4754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  Effect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6035040"/>
            <a:ext cx="4572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7474F"/>
                </a:solidFill>
                <a:latin typeface="Microsoft YaHei"/>
              </a:defRPr>
            </a:pPr>
            <a:r>
              <a:t>匹配具体AI技术</a:t>
            </a:r>
            <a:br/>
            <a:r>
              <a:t>形成完整技术选型方案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44000" y="2212848"/>
            <a:ext cx="0" cy="91440"/>
          </a:xfrm>
          <a:prstGeom prst="line">
            <a:avLst/>
          </a:prstGeom>
          <a:ln w="2540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44000" y="3328416"/>
            <a:ext cx="0" cy="91440"/>
          </a:xfrm>
          <a:prstGeom prst="line">
            <a:avLst/>
          </a:prstGeom>
          <a:ln w="2540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44000" y="4443984"/>
            <a:ext cx="0" cy="91440"/>
          </a:xfrm>
          <a:prstGeom prst="line">
            <a:avLst/>
          </a:prstGeom>
          <a:ln w="2540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44000" y="5559552"/>
            <a:ext cx="0" cy="91440"/>
          </a:xfrm>
          <a:prstGeom prst="line">
            <a:avLst/>
          </a:prstGeom>
          <a:ln w="25400">
            <a:solidFill>
              <a:srgbClr val="455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760720" y="1700784"/>
            <a:ext cx="822960" cy="0"/>
          </a:xfrm>
          <a:prstGeom prst="line">
            <a:avLst/>
          </a:prstGeom>
          <a:ln w="12700">
            <a:solidFill>
              <a:srgbClr val="90A4A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806440" y="1517904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78909C"/>
                </a:solidFill>
                <a:latin typeface="Microsoft YaHei"/>
              </a:defRPr>
            </a:pPr>
            <a:r>
              <a:t>参数定义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760720" y="2816352"/>
            <a:ext cx="822960" cy="0"/>
          </a:xfrm>
          <a:prstGeom prst="line">
            <a:avLst/>
          </a:prstGeom>
          <a:ln w="12700">
            <a:solidFill>
              <a:srgbClr val="90A4A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806440" y="2633472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78909C"/>
                </a:solidFill>
                <a:latin typeface="Microsoft YaHei"/>
              </a:defRPr>
            </a:pPr>
            <a:r>
              <a:t>原理搜索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60720" y="3931920"/>
            <a:ext cx="822960" cy="0"/>
          </a:xfrm>
          <a:prstGeom prst="line">
            <a:avLst/>
          </a:prstGeom>
          <a:ln w="12700">
            <a:solidFill>
              <a:srgbClr val="90A4A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806440" y="37490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78909C"/>
                </a:solidFill>
                <a:latin typeface="Microsoft YaHei"/>
              </a:defRPr>
            </a:pPr>
            <a:r>
              <a:t>矩阵查询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760720" y="5047488"/>
            <a:ext cx="822960" cy="0"/>
          </a:xfrm>
          <a:prstGeom prst="line">
            <a:avLst/>
          </a:prstGeom>
          <a:ln w="12700">
            <a:solidFill>
              <a:srgbClr val="90A4A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806440" y="4864608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78909C"/>
                </a:solidFill>
                <a:latin typeface="Microsoft YaHei"/>
              </a:defRPr>
            </a:pPr>
            <a:r>
              <a:t>路径评估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760720" y="6163056"/>
            <a:ext cx="822960" cy="0"/>
          </a:xfrm>
          <a:prstGeom prst="line">
            <a:avLst/>
          </a:prstGeom>
          <a:ln w="12700">
            <a:solidFill>
              <a:srgbClr val="90A4A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806440" y="5980176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78909C"/>
                </a:solidFill>
                <a:latin typeface="Microsoft YaHei"/>
              </a:defRPr>
            </a:pPr>
            <a:r>
              <a:t>技术匹配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" y="6679692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78909C"/>
                </a:solidFill>
                <a:latin typeface="Microsoft YaHei"/>
              </a:defRPr>
            </a:pPr>
            <a:r>
              <a:rPr dirty="0"/>
              <a:t>注: </a:t>
            </a:r>
            <a:r>
              <a:rPr dirty="0" err="1"/>
              <a:t>左侧五层为方法论的知识库支撑，右侧五步为用户交互流程，虚线连接表示每步对应的知识层调用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169</Words>
  <Application>Microsoft Office PowerPoint</Application>
  <PresentationFormat>自定义</PresentationFormat>
  <Paragraphs>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Lelouch Lamperouge</cp:lastModifiedBy>
  <cp:revision>2</cp:revision>
  <dcterms:created xsi:type="dcterms:W3CDTF">2013-01-27T09:14:16Z</dcterms:created>
  <dcterms:modified xsi:type="dcterms:W3CDTF">2026-07-14T14:19:41Z</dcterms:modified>
  <cp:category/>
</cp:coreProperties>
</file>