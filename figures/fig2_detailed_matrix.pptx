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197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5AB1-5670-4DDB-986A-6A232975B380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30350" y="1143000"/>
            <a:ext cx="3797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A89E3-2B7A-467A-9CBD-A7F50958E4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74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A89E3-2B7A-467A-9CBD-A7F50958E4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"/>
            <a:ext cx="1280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A237E"/>
                </a:solidFill>
                <a:latin typeface="Microsoft YaHei"/>
              </a:defRPr>
            </a:pPr>
            <a:r>
              <a:rPr dirty="0" err="1"/>
              <a:t>SCOPE矛盾矩阵（详细版</a:t>
            </a:r>
            <a:r>
              <a:rPr dirty="0"/>
              <a:t>）— </a:t>
            </a:r>
            <a:r>
              <a:rPr dirty="0" err="1"/>
              <a:t>每格标注关联的AI业务发明原理编号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280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SCOPE Contradiction Matrix (Detailed) — Principle Numbers Per Cell  |  +2=认知自动化  +7=预测与推演（基础原理，每格默认）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01460" y="175127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1B78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756324" y="182443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Microsoft YaHei"/>
              </a:defRPr>
            </a:pPr>
            <a:r>
              <a:rPr sz="1400" dirty="0"/>
              <a:t>■ N=55</a:t>
            </a:r>
            <a:br>
              <a:rPr sz="1400" dirty="0"/>
            </a:br>
            <a:r>
              <a:rPr sz="1400" dirty="0"/>
              <a:t>1, 9, 19, 21, 34, 30, 6, 20</a:t>
            </a:r>
            <a:br>
              <a:rPr sz="1400" dirty="0"/>
            </a:br>
            <a:r>
              <a:rPr sz="1400" dirty="0"/>
              <a:t>31, +2, +7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0532" y="175127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1B78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4475396" y="182443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Microsoft YaHei"/>
              </a:defRPr>
            </a:pPr>
            <a:r>
              <a:rPr sz="1400" dirty="0"/>
              <a:t>■ N=18</a:t>
            </a:r>
            <a:br>
              <a:rPr sz="1400" dirty="0"/>
            </a:br>
            <a:r>
              <a:rPr sz="1400" dirty="0"/>
              <a:t>1, 8, 26, 14, 30, 25, +2, +7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9604" y="175127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1B78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6194468" y="182443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Microsoft YaHei"/>
              </a:defRPr>
            </a:pPr>
            <a:r>
              <a:rPr sz="1400"/>
              <a:t>■ N=25</a:t>
            </a:r>
            <a:br>
              <a:rPr sz="1400"/>
            </a:br>
            <a:r>
              <a:rPr sz="1400"/>
              <a:t>1, 14, 28, 3, 25, 5, 21, +2</a:t>
            </a:r>
            <a:br>
              <a:rPr sz="1400"/>
            </a:br>
            <a:r>
              <a:rPr sz="1400"/>
              <a:t>+7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58676" y="175127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1B78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7913540" y="182443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Microsoft YaHei"/>
              </a:defRPr>
            </a:pPr>
            <a:r>
              <a:rPr sz="1400"/>
              <a:t>■ N=28</a:t>
            </a:r>
            <a:br>
              <a:rPr sz="1400"/>
            </a:br>
            <a:r>
              <a:rPr sz="1400"/>
              <a:t>9, 21, 30, 6, 5, 16, 4, 14</a:t>
            </a:r>
            <a:br>
              <a:rPr sz="1400"/>
            </a:br>
            <a:r>
              <a:rPr sz="1400"/>
              <a:t>34, +2, +7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7748" y="175127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9632612" y="182443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N=8</a:t>
            </a:r>
            <a:br>
              <a:rPr sz="1400"/>
            </a:br>
            <a:r>
              <a:rPr sz="1400"/>
              <a:t>19, 3, 4, 10, +2, +7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96820" y="175127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1B78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11351684" y="182443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Microsoft YaHei"/>
              </a:defRPr>
            </a:pPr>
            <a:r>
              <a:rPr sz="1400"/>
              <a:t>■ N=18</a:t>
            </a:r>
            <a:br>
              <a:rPr sz="1400"/>
            </a:br>
            <a:r>
              <a:rPr sz="1400"/>
              <a:t>1, 10, 31, 35, 9, 20, 21, +2</a:t>
            </a:r>
            <a:br>
              <a:rPr sz="1400"/>
            </a:br>
            <a:r>
              <a:rPr sz="1400"/>
              <a:t>+7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1460" y="3333190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1B78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2756324" y="3406342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Microsoft YaHei"/>
              </a:defRPr>
            </a:pPr>
            <a:r>
              <a:rPr sz="1400"/>
              <a:t>■ N=16</a:t>
            </a:r>
            <a:br>
              <a:rPr sz="1400"/>
            </a:br>
            <a:r>
              <a:rPr sz="1400"/>
              <a:t>4, 5, 11, 28, 3, 25, 14, +2</a:t>
            </a:r>
            <a:br>
              <a:rPr sz="1400"/>
            </a:br>
            <a:r>
              <a:rPr sz="1400"/>
              <a:t>+7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0532" y="3333190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4475396" y="3406342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N=7</a:t>
            </a:r>
            <a:br>
              <a:rPr sz="1400"/>
            </a:br>
            <a:r>
              <a:rPr sz="1400"/>
              <a:t>1, 14, 25, 10, 3, +2, +7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9604" y="3333190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6194468" y="3406342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N=11</a:t>
            </a:r>
            <a:br>
              <a:rPr sz="1400"/>
            </a:br>
            <a:r>
              <a:rPr sz="1400"/>
              <a:t>1, 3, 11, 14, 25, 30, 15, +2</a:t>
            </a:r>
            <a:br>
              <a:rPr sz="1400"/>
            </a:br>
            <a:r>
              <a:rPr sz="1400"/>
              <a:t>+7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58676" y="3333190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8A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7913540" y="3406342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△ N=5</a:t>
            </a:r>
            <a:br>
              <a:rPr sz="1400"/>
            </a:br>
            <a:r>
              <a:rPr sz="1400"/>
              <a:t>25, 21, 19, +2, +7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7748" y="3333190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8A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9632612" y="3406342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△ N=5</a:t>
            </a:r>
            <a:br>
              <a:rPr sz="1400"/>
            </a:br>
            <a:r>
              <a:rPr sz="1400"/>
              <a:t>3, 25, 26, +2, +7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296820" y="3333190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11351684" y="3406342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N=2</a:t>
            </a:r>
            <a:br>
              <a:rPr sz="1400"/>
            </a:br>
            <a:r>
              <a:rPr sz="1400"/>
              <a:t>10, 25, 9, +2, +7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01460" y="4915102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1B78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2756324" y="4988254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Microsoft YaHei"/>
              </a:defRPr>
            </a:pPr>
            <a:r>
              <a:rPr sz="1400"/>
              <a:t>■ N=24</a:t>
            </a:r>
            <a:br>
              <a:rPr sz="1400"/>
            </a:br>
            <a:r>
              <a:rPr sz="1400"/>
              <a:t>6, 9, 19, 30, 16, 23, 36, 22</a:t>
            </a:r>
            <a:br>
              <a:rPr sz="1400"/>
            </a:br>
            <a:r>
              <a:rPr sz="1400"/>
              <a:t>28, 15, 27, 20, 21, 3, +2</a:t>
            </a:r>
            <a:br>
              <a:rPr sz="1400"/>
            </a:br>
            <a:r>
              <a:rPr sz="1400"/>
              <a:t>+7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0532" y="4915102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4475396" y="4988254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N=7</a:t>
            </a:r>
            <a:br>
              <a:rPr sz="1400"/>
            </a:br>
            <a:r>
              <a:rPr sz="1400"/>
              <a:t>8, 27, 37, 12, 30, +2, +7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39604" y="4915102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TextBox 32"/>
          <p:cNvSpPr txBox="1"/>
          <p:nvPr/>
        </p:nvSpPr>
        <p:spPr>
          <a:xfrm>
            <a:off x="6194468" y="4988254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N=2</a:t>
            </a:r>
            <a:br>
              <a:rPr sz="1400"/>
            </a:br>
            <a:r>
              <a:rPr sz="1400"/>
              <a:t>15, 30, +2, +7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58676" y="4915102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TextBox 34"/>
          <p:cNvSpPr txBox="1"/>
          <p:nvPr/>
        </p:nvSpPr>
        <p:spPr>
          <a:xfrm>
            <a:off x="7913540" y="4988254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N=8</a:t>
            </a:r>
            <a:br>
              <a:rPr sz="1400"/>
            </a:br>
            <a:r>
              <a:rPr sz="1400"/>
              <a:t>6, 19, 30, 36, 22, 3, +2, +7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77748" y="4915102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7" name="TextBox 36"/>
          <p:cNvSpPr txBox="1"/>
          <p:nvPr/>
        </p:nvSpPr>
        <p:spPr>
          <a:xfrm>
            <a:off x="9632612" y="4988254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N=1</a:t>
            </a:r>
            <a:br>
              <a:rPr sz="1400"/>
            </a:br>
            <a:r>
              <a:rPr sz="1400"/>
              <a:t>8, 27, 37, +2, +7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96820" y="4915102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8A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9" name="TextBox 38"/>
          <p:cNvSpPr txBox="1"/>
          <p:nvPr/>
        </p:nvSpPr>
        <p:spPr>
          <a:xfrm>
            <a:off x="11351684" y="4988254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△ N=3</a:t>
            </a:r>
            <a:br>
              <a:rPr sz="1400"/>
            </a:br>
            <a:r>
              <a:rPr sz="1400"/>
              <a:t>20, 21, 19, +2, +7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01460" y="6497014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1" name="TextBox 40"/>
          <p:cNvSpPr txBox="1"/>
          <p:nvPr/>
        </p:nvSpPr>
        <p:spPr>
          <a:xfrm>
            <a:off x="2756324" y="6570166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N=14</a:t>
            </a:r>
            <a:br>
              <a:rPr sz="1400"/>
            </a:br>
            <a:r>
              <a:rPr sz="1400"/>
              <a:t>19, 34, 10, 35, 8, +2, +7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0532" y="6497014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3" name="TextBox 42"/>
          <p:cNvSpPr txBox="1"/>
          <p:nvPr/>
        </p:nvSpPr>
        <p:spPr>
          <a:xfrm>
            <a:off x="4475396" y="6570166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N=12</a:t>
            </a:r>
            <a:br>
              <a:rPr sz="1400"/>
            </a:br>
            <a:r>
              <a:rPr sz="1400"/>
              <a:t>8, 10, 35, +2, +7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39604" y="6497014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8A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5" name="TextBox 44"/>
          <p:cNvSpPr txBox="1"/>
          <p:nvPr/>
        </p:nvSpPr>
        <p:spPr>
          <a:xfrm>
            <a:off x="6194468" y="6570166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△ N=4</a:t>
            </a:r>
            <a:br>
              <a:rPr sz="1400"/>
            </a:br>
            <a:r>
              <a:rPr sz="1400"/>
              <a:t>25, 14, 21, +2, +7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58676" y="6497014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7" name="TextBox 46"/>
          <p:cNvSpPr txBox="1"/>
          <p:nvPr/>
        </p:nvSpPr>
        <p:spPr>
          <a:xfrm>
            <a:off x="7913540" y="6570166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N=1</a:t>
            </a:r>
            <a:br>
              <a:rPr sz="1400"/>
            </a:br>
            <a:r>
              <a:rPr sz="1400"/>
              <a:t>10, +2, +7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77748" y="6497014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9" name="TextBox 48"/>
          <p:cNvSpPr txBox="1"/>
          <p:nvPr/>
        </p:nvSpPr>
        <p:spPr>
          <a:xfrm>
            <a:off x="9632612" y="6570166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N=2</a:t>
            </a:r>
            <a:br>
              <a:rPr sz="1400"/>
            </a:br>
            <a:r>
              <a:rPr sz="1400"/>
              <a:t>8, 27, 37, +2, +7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96820" y="6497014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1" name="TextBox 50"/>
          <p:cNvSpPr txBox="1"/>
          <p:nvPr/>
        </p:nvSpPr>
        <p:spPr>
          <a:xfrm>
            <a:off x="11351684" y="6570166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N=12</a:t>
            </a:r>
            <a:br>
              <a:rPr sz="1400"/>
            </a:br>
            <a:r>
              <a:rPr sz="1400"/>
              <a:t>10, 35, 18, 34, 29, 9, +2</a:t>
            </a:r>
            <a:br>
              <a:rPr sz="1400"/>
            </a:br>
            <a:r>
              <a:rPr sz="1400"/>
              <a:t>+7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01460" y="8078926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3" name="TextBox 52"/>
          <p:cNvSpPr txBox="1"/>
          <p:nvPr/>
        </p:nvSpPr>
        <p:spPr>
          <a:xfrm>
            <a:off x="2756324" y="8152078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N=9</a:t>
            </a:r>
            <a:br>
              <a:rPr sz="1400"/>
            </a:br>
            <a:r>
              <a:rPr sz="1400"/>
              <a:t>4, 30, 16, 28, 3, 22, +2, +7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20532" y="8078926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5" name="TextBox 54"/>
          <p:cNvSpPr txBox="1"/>
          <p:nvPr/>
        </p:nvSpPr>
        <p:spPr>
          <a:xfrm>
            <a:off x="4475396" y="8152078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N=11</a:t>
            </a:r>
            <a:br>
              <a:rPr sz="1400"/>
            </a:br>
            <a:r>
              <a:rPr sz="1400"/>
              <a:t>4, 22, 30, 8, +2, +7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39604" y="8078926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7" name="TextBox 56"/>
          <p:cNvSpPr txBox="1"/>
          <p:nvPr/>
        </p:nvSpPr>
        <p:spPr>
          <a:xfrm>
            <a:off x="6194468" y="8152078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N=10</a:t>
            </a:r>
            <a:br>
              <a:rPr sz="1400"/>
            </a:br>
            <a:r>
              <a:rPr sz="1400"/>
              <a:t>1, 3, 11, 28, 30, 14, +2, +7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58676" y="8078926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9" name="TextBox 58"/>
          <p:cNvSpPr txBox="1"/>
          <p:nvPr/>
        </p:nvSpPr>
        <p:spPr>
          <a:xfrm>
            <a:off x="7913540" y="8152078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N=14</a:t>
            </a:r>
            <a:br>
              <a:rPr sz="1400"/>
            </a:br>
            <a:r>
              <a:rPr sz="1400"/>
              <a:t>5, 14, 30, 16, 28, 3, 22, +2</a:t>
            </a:r>
            <a:br>
              <a:rPr sz="1400"/>
            </a:br>
            <a:r>
              <a:rPr sz="1400"/>
              <a:t>+7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77748" y="8078926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8A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1" name="TextBox 60"/>
          <p:cNvSpPr txBox="1"/>
          <p:nvPr/>
        </p:nvSpPr>
        <p:spPr>
          <a:xfrm>
            <a:off x="9632612" y="8152078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△ N=4</a:t>
            </a:r>
            <a:br>
              <a:rPr sz="1400"/>
            </a:br>
            <a:r>
              <a:rPr sz="1400"/>
              <a:t>10, 3, 4, +2, +7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296820" y="8078926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8A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3" name="TextBox 62"/>
          <p:cNvSpPr txBox="1"/>
          <p:nvPr/>
        </p:nvSpPr>
        <p:spPr>
          <a:xfrm>
            <a:off x="11351684" y="8152078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△ N=4</a:t>
            </a:r>
            <a:br>
              <a:rPr sz="1400"/>
            </a:br>
            <a:r>
              <a:rPr sz="1400"/>
              <a:t>21, +2, +7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01460" y="966083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5" name="TextBox 64"/>
          <p:cNvSpPr txBox="1"/>
          <p:nvPr/>
        </p:nvSpPr>
        <p:spPr>
          <a:xfrm>
            <a:off x="2756324" y="973399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N=2</a:t>
            </a:r>
            <a:br>
              <a:rPr sz="1400"/>
            </a:br>
            <a:r>
              <a:rPr sz="1400"/>
              <a:t>9, +2, +7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20532" y="966083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C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7" name="TextBox 66"/>
          <p:cNvSpPr txBox="1"/>
          <p:nvPr/>
        </p:nvSpPr>
        <p:spPr>
          <a:xfrm>
            <a:off x="4475396" y="973399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□ N=12</a:t>
            </a:r>
            <a:br>
              <a:rPr sz="1400"/>
            </a:br>
            <a:r>
              <a:rPr sz="1400"/>
              <a:t>8, 16, 26, 12, +2, +7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39604" y="966083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9" name="TextBox 68"/>
          <p:cNvSpPr txBox="1"/>
          <p:nvPr/>
        </p:nvSpPr>
        <p:spPr>
          <a:xfrm>
            <a:off x="6194468" y="973399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858676" y="966083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1" name="TextBox 70"/>
          <p:cNvSpPr txBox="1"/>
          <p:nvPr/>
        </p:nvSpPr>
        <p:spPr>
          <a:xfrm>
            <a:off x="7913540" y="973399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N=1</a:t>
            </a:r>
            <a:br>
              <a:rPr sz="1400"/>
            </a:br>
            <a:r>
              <a:rPr sz="1400"/>
              <a:t>9, +2, +7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77748" y="966083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D730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3" name="TextBox 72"/>
          <p:cNvSpPr txBox="1"/>
          <p:nvPr/>
        </p:nvSpPr>
        <p:spPr>
          <a:xfrm>
            <a:off x="9632612" y="973399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▽ N=1</a:t>
            </a:r>
            <a:br>
              <a:rPr sz="1400"/>
            </a:br>
            <a:r>
              <a:rPr sz="1400"/>
              <a:t>8, 27, 37, +2, +7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296820" y="9660838"/>
            <a:ext cx="1645920" cy="1508760"/>
          </a:xfrm>
          <a:prstGeom prst="roundRect">
            <a:avLst>
              <a:gd name="adj" fmla="val 5000"/>
            </a:avLst>
          </a:prstGeom>
          <a:solidFill>
            <a:srgbClr val="E68A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5" name="TextBox 74"/>
          <p:cNvSpPr txBox="1"/>
          <p:nvPr/>
        </p:nvSpPr>
        <p:spPr>
          <a:xfrm>
            <a:off x="11351684" y="9733990"/>
            <a:ext cx="1536192" cy="1362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000000"/>
                </a:solidFill>
                <a:latin typeface="Microsoft YaHei"/>
              </a:defRPr>
            </a:pPr>
            <a:r>
              <a:rPr sz="1400"/>
              <a:t>△ N=5</a:t>
            </a:r>
            <a:br>
              <a:rPr sz="1400"/>
            </a:br>
            <a:r>
              <a:rPr sz="1400"/>
              <a:t>8, 10, 14, +2, +7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5540" y="2231338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63238"/>
                </a:solidFill>
                <a:latin typeface="Microsoft YaHei"/>
              </a:defRPr>
            </a:pPr>
            <a:r>
              <a:rPr sz="1600"/>
              <a:t>S1 运营效率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5540" y="381325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63238"/>
                </a:solidFill>
                <a:latin typeface="Microsoft YaHei"/>
              </a:defRPr>
            </a:pPr>
            <a:r>
              <a:rPr sz="1600"/>
              <a:t>S2 客户满意度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5540" y="5395162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63238"/>
                </a:solidFill>
                <a:latin typeface="Microsoft YaHei"/>
              </a:defRPr>
            </a:pPr>
            <a:r>
              <a:rPr sz="1600"/>
              <a:t>S3 创新能力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5540" y="6977074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63238"/>
                </a:solidFill>
                <a:latin typeface="Microsoft YaHei"/>
              </a:defRPr>
            </a:pPr>
            <a:r>
              <a:rPr sz="1600"/>
              <a:t>S4 风险控制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5540" y="8558986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63238"/>
                </a:solidFill>
                <a:latin typeface="Microsoft YaHei"/>
              </a:defRPr>
            </a:pPr>
            <a:r>
              <a:rPr sz="1600"/>
              <a:t>S5 收入增长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5540" y="10140898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63238"/>
                </a:solidFill>
                <a:latin typeface="Microsoft YaHei"/>
              </a:defRPr>
            </a:pPr>
            <a:r>
              <a:rPr sz="1600"/>
              <a:t>S6 决策速度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15377" y="1276682"/>
            <a:ext cx="1645920" cy="4288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rPr sz="1600" dirty="0"/>
              <a:t>C1 </a:t>
            </a:r>
            <a:r>
              <a:rPr sz="1600" dirty="0" err="1"/>
              <a:t>实施复杂度</a:t>
            </a:r>
            <a:endParaRPr sz="1600" dirty="0"/>
          </a:p>
        </p:txBody>
      </p:sp>
      <p:sp>
        <p:nvSpPr>
          <p:cNvPr id="83" name="TextBox 82"/>
          <p:cNvSpPr txBox="1"/>
          <p:nvPr/>
        </p:nvSpPr>
        <p:spPr>
          <a:xfrm>
            <a:off x="4563656" y="1248358"/>
            <a:ext cx="146304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rPr sz="1600" dirty="0"/>
              <a:t>C2 </a:t>
            </a:r>
            <a:r>
              <a:rPr sz="1600" dirty="0" err="1"/>
              <a:t>可解释性</a:t>
            </a:r>
            <a:endParaRPr sz="1600" dirty="0"/>
          </a:p>
        </p:txBody>
      </p:sp>
      <p:sp>
        <p:nvSpPr>
          <p:cNvPr id="84" name="TextBox 83"/>
          <p:cNvSpPr txBox="1"/>
          <p:nvPr/>
        </p:nvSpPr>
        <p:spPr>
          <a:xfrm>
            <a:off x="6322484" y="1218541"/>
            <a:ext cx="128016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rPr sz="1600" dirty="0"/>
              <a:t>C3 </a:t>
            </a:r>
            <a:r>
              <a:rPr sz="1600" dirty="0" err="1"/>
              <a:t>对人的</a:t>
            </a:r>
            <a:r>
              <a:rPr sz="1600" dirty="0"/>
              <a:t> </a:t>
            </a:r>
            <a:r>
              <a:rPr sz="1600" dirty="0" err="1"/>
              <a:t>依赖度</a:t>
            </a:r>
            <a:endParaRPr sz="1600" dirty="0"/>
          </a:p>
        </p:txBody>
      </p:sp>
      <p:sp>
        <p:nvSpPr>
          <p:cNvPr id="85" name="TextBox 84"/>
          <p:cNvSpPr txBox="1"/>
          <p:nvPr/>
        </p:nvSpPr>
        <p:spPr>
          <a:xfrm>
            <a:off x="8041556" y="1248358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rPr sz="1600" dirty="0"/>
              <a:t>C4 </a:t>
            </a:r>
            <a:r>
              <a:rPr sz="1600" dirty="0" err="1"/>
              <a:t>成本</a:t>
            </a:r>
            <a:endParaRPr sz="1600" dirty="0"/>
          </a:p>
        </p:txBody>
      </p:sp>
      <p:sp>
        <p:nvSpPr>
          <p:cNvPr id="86" name="TextBox 85"/>
          <p:cNvSpPr txBox="1"/>
          <p:nvPr/>
        </p:nvSpPr>
        <p:spPr>
          <a:xfrm>
            <a:off x="9677138" y="1208602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rPr sz="1600" dirty="0"/>
              <a:t>C5 </a:t>
            </a:r>
            <a:r>
              <a:rPr sz="1600" dirty="0" err="1"/>
              <a:t>数据</a:t>
            </a:r>
            <a:r>
              <a:rPr sz="1600" dirty="0"/>
              <a:t> </a:t>
            </a:r>
            <a:r>
              <a:rPr sz="1600" dirty="0" err="1"/>
              <a:t>隐私风险</a:t>
            </a:r>
            <a:endParaRPr sz="1600" dirty="0"/>
          </a:p>
        </p:txBody>
      </p:sp>
      <p:sp>
        <p:nvSpPr>
          <p:cNvPr id="87" name="TextBox 86"/>
          <p:cNvSpPr txBox="1"/>
          <p:nvPr/>
        </p:nvSpPr>
        <p:spPr>
          <a:xfrm>
            <a:off x="11479700" y="1208602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rPr sz="1600" dirty="0"/>
              <a:t>C6 </a:t>
            </a:r>
            <a:r>
              <a:rPr sz="1600" dirty="0" err="1"/>
              <a:t>系统</a:t>
            </a:r>
            <a:r>
              <a:rPr sz="1600" dirty="0"/>
              <a:t> </a:t>
            </a:r>
            <a:r>
              <a:rPr sz="1600" dirty="0" err="1"/>
              <a:t>安全性</a:t>
            </a:r>
            <a:endParaRPr sz="1600" dirty="0"/>
          </a:p>
        </p:txBody>
      </p:sp>
      <p:sp>
        <p:nvSpPr>
          <p:cNvPr id="88" name="TextBox 87"/>
          <p:cNvSpPr txBox="1"/>
          <p:nvPr/>
        </p:nvSpPr>
        <p:spPr>
          <a:xfrm>
            <a:off x="3981620" y="910922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237E"/>
                </a:solidFill>
                <a:latin typeface="Microsoft YaHei"/>
              </a:defRPr>
            </a:pPr>
            <a:r>
              <a:rPr dirty="0" err="1"/>
              <a:t>恶化的业务约束</a:t>
            </a:r>
            <a:r>
              <a:rPr dirty="0"/>
              <a:t> (Constrain)</a:t>
            </a:r>
            <a:r>
              <a:rPr lang="zh-CN" altLang="en-US" dirty="0"/>
              <a:t>➡</a:t>
            </a:r>
            <a:r>
              <a:rPr dirty="0"/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713" y="5492565"/>
            <a:ext cx="1057523" cy="140340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237E"/>
                </a:solidFill>
                <a:latin typeface="Microsoft YaHei"/>
              </a:defRPr>
            </a:pPr>
            <a:r>
              <a:rPr dirty="0" err="1"/>
              <a:t>改善的业务目标</a:t>
            </a:r>
            <a:br>
              <a:rPr dirty="0"/>
            </a:br>
            <a:r>
              <a:rPr dirty="0"/>
              <a:t>   (Strengthen)</a:t>
            </a:r>
            <a:endParaRPr lang="en-US" dirty="0"/>
          </a:p>
          <a:p>
            <a:pPr algn="ctr">
              <a:defRPr sz="1400" b="1">
                <a:solidFill>
                  <a:srgbClr val="1A237E"/>
                </a:solidFill>
                <a:latin typeface="Microsoft YaHei"/>
              </a:defRPr>
            </a:pPr>
            <a:r>
              <a:rPr lang="zh-CN" altLang="en-US" dirty="0"/>
              <a:t>⬇</a:t>
            </a:r>
            <a:endParaRPr dirty="0"/>
          </a:p>
        </p:txBody>
      </p:sp>
      <p:sp>
        <p:nvSpPr>
          <p:cNvPr id="90" name="Rectangle 89"/>
          <p:cNvSpPr/>
          <p:nvPr/>
        </p:nvSpPr>
        <p:spPr>
          <a:xfrm>
            <a:off x="2792900" y="11517070"/>
            <a:ext cx="228600" cy="18288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067220" y="1149878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rPr dirty="0"/>
              <a:t>■ </a:t>
            </a:r>
            <a:r>
              <a:rPr lang="zh-CN" altLang="en-US" dirty="0"/>
              <a:t>极高</a:t>
            </a:r>
            <a:r>
              <a:rPr dirty="0" err="1"/>
              <a:t>信度</a:t>
            </a:r>
            <a:r>
              <a:rPr dirty="0"/>
              <a:t> (N≥15)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18980" y="11517070"/>
            <a:ext cx="228600" cy="182880"/>
          </a:xfrm>
          <a:prstGeom prst="rect">
            <a:avLst/>
          </a:prstGeom>
          <a:solidFill>
            <a:srgbClr val="E6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93300" y="1149878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rPr dirty="0"/>
              <a:t>□ </a:t>
            </a:r>
            <a:r>
              <a:rPr lang="zh-CN" altLang="en-US" dirty="0"/>
              <a:t>高</a:t>
            </a:r>
            <a:r>
              <a:rPr dirty="0" err="1"/>
              <a:t>信度</a:t>
            </a:r>
            <a:r>
              <a:rPr dirty="0"/>
              <a:t> (N=6-14)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45060" y="11517070"/>
            <a:ext cx="228600" cy="1828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919380" y="1149878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rPr dirty="0"/>
              <a:t>△ </a:t>
            </a:r>
            <a:r>
              <a:rPr lang="zh-CN" altLang="en-US" dirty="0"/>
              <a:t>中</a:t>
            </a:r>
            <a:r>
              <a:rPr dirty="0" err="1"/>
              <a:t>信度</a:t>
            </a:r>
            <a:r>
              <a:rPr dirty="0"/>
              <a:t> (N=3-5)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944975" y="11517070"/>
            <a:ext cx="228600" cy="182880"/>
          </a:xfrm>
          <a:prstGeom prst="rect">
            <a:avLst/>
          </a:prstGeom>
          <a:solidFill>
            <a:srgbClr val="D7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1219293" y="1149878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rPr dirty="0"/>
              <a:t>▽ </a:t>
            </a:r>
            <a:r>
              <a:rPr dirty="0" err="1"/>
              <a:t>低信度</a:t>
            </a:r>
            <a:r>
              <a:rPr dirty="0"/>
              <a:t> (N=1-2)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785</Words>
  <Application>Microsoft Office PowerPoint</Application>
  <PresentationFormat>自定义</PresentationFormat>
  <Paragraphs>58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Lelouch Lamperouge</cp:lastModifiedBy>
  <cp:revision>2</cp:revision>
  <dcterms:created xsi:type="dcterms:W3CDTF">2013-01-27T09:14:16Z</dcterms:created>
  <dcterms:modified xsi:type="dcterms:W3CDTF">2026-07-14T14:33:15Z</dcterms:modified>
  <cp:category/>
</cp:coreProperties>
</file>